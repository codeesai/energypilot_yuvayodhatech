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  <p:sldId id="300" r:id="rId14"/>
    <p:sldId id="301" r:id="rId15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727272"/>
    <a:srgbClr val="39B0D4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2EF9C0-4286-443D-BF56-06F373325A1B}" v="5" dt="2026-09-05T06:30:57.3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78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05-Sep-26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05-Sep-26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05-Sep-26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05-Sep-26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05-Sep-26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05-Sep-26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05-Sep-26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05-Sep-26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05-Sep-26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05-Sep-26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05-Sep-26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05-Sep-26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05-Sep-26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0.jp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1.jp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2.jp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328369" y="246049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COMMODITY DERIVATIVES INTELLIGENCE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51536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Data-Driven Relative Value Intelligence for MCX Gold Futures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8550" y="1228288"/>
            <a:ext cx="6743192" cy="5025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–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PS-03: Commodity Derivatives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Focus –</a:t>
            </a:r>
            <a:r>
              <a:rPr lang="en-IN" dirty="0"/>
              <a:t> </a:t>
            </a:r>
            <a:r>
              <a:rPr lang="en-IN" sz="2300" dirty="0">
                <a:solidFill>
                  <a:schemeClr val="tx2"/>
                </a:solidFill>
                <a:latin typeface="Bahnschrift Light SemiCondensed" panose="020B0502040204020203" pitchFamily="34" charset="0"/>
              </a:rPr>
              <a:t>MCX Gold Futures Cross-Contract Relative Value Analysis</a:t>
            </a:r>
            <a:r>
              <a:rPr lang="en-IN" sz="2300" dirty="0">
                <a:solidFill>
                  <a:schemeClr val="tx2"/>
                </a:solidFill>
              </a:rPr>
              <a:t> </a:t>
            </a:r>
            <a:br>
              <a:rPr lang="en-IN" sz="2400" dirty="0">
                <a:solidFill>
                  <a:schemeClr val="tx2"/>
                </a:solidFill>
              </a:rPr>
            </a:br>
            <a:endParaRPr lang="en-US" sz="24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 –</a:t>
            </a:r>
            <a:r>
              <a:rPr lang="en-IN" dirty="0"/>
              <a:t> </a:t>
            </a:r>
            <a:r>
              <a:rPr lang="en-IN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Quantitative Finance</a:t>
            </a:r>
            <a:r>
              <a:rPr lang="en-IN" sz="2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 Data Analytics / FinTech</a:t>
            </a:r>
            <a:endParaRPr lang="en-US" sz="2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Category –</a:t>
            </a: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Product /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–</a:t>
            </a:r>
            <a:endParaRPr lang="en-US" sz="2000" b="1" dirty="0">
              <a:solidFill>
                <a:srgbClr val="72727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</a:t>
            </a:r>
            <a:r>
              <a:rPr lang="en-US" sz="2400" b="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[YOUR TEAM NAME]</a:t>
            </a:r>
            <a:endParaRPr lang="en-IN" sz="2400" b="1" dirty="0">
              <a:solidFill>
                <a:srgbClr val="C0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4457020" y="9832"/>
            <a:ext cx="3277957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Commodity Derivatives Intelligence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Team Logo">
            <a:extLst>
              <a:ext uri="{FF2B5EF4-FFF2-40B4-BE49-F238E27FC236}">
                <a16:creationId xmlns:a16="http://schemas.microsoft.com/office/drawing/2014/main" id="{EB54E99E-8FFE-44C5-D7A1-F675411BBA6E}"/>
              </a:ext>
            </a:extLst>
          </p:cNvPr>
          <p:cNvSpPr/>
          <p:nvPr/>
        </p:nvSpPr>
        <p:spPr>
          <a:xfrm>
            <a:off x="329773" y="252246"/>
            <a:ext cx="166617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latin typeface="Arial" panose="020B0604020202020204" pitchFamily="34" charset="0"/>
              </a:rPr>
              <a:t>[YOUR TEAM NAME]</a:t>
            </a:r>
            <a:endParaRPr lang="en-IN" dirty="0"/>
          </a:p>
        </p:txBody>
      </p:sp>
      <p:pic>
        <p:nvPicPr>
          <p:cNvPr id="18" name="Content Image">
            <a:extLst>
              <a:ext uri="{FF2B5EF4-FFF2-40B4-BE49-F238E27FC236}">
                <a16:creationId xmlns:a16="http://schemas.microsoft.com/office/drawing/2014/main" id="{B3E538F8-023E-38D2-CC5A-E8B4D5D0F6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280160"/>
            <a:ext cx="5669280" cy="4206240"/>
          </a:xfrm>
          <a:prstGeom prst="rect">
            <a:avLst/>
          </a:prstGeom>
        </p:spPr>
      </p:pic>
      <p:sp>
        <p:nvSpPr>
          <p:cNvPr id="20" name="ProblemBox"/>
          <p:cNvSpPr txBox="1"/>
          <p:nvPr/>
        </p:nvSpPr>
        <p:spPr>
          <a:xfrm>
            <a:off x="365760" y="1188720"/>
            <a:ext cx="4937760" cy="4572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>
              <a:spcAft>
                <a:spcPts val="200"/>
              </a:spcAft>
            </a:pPr>
            <a:r>
              <a:rPr lang="en-US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</a:p>
          <a:p>
            <a:pPr algn="l">
              <a:spcAft>
                <a:spcPts val="100"/>
              </a:spcAft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MCX offers multiple gold futures contracts:</a:t>
            </a:r>
          </a:p>
          <a:p>
            <a:pPr algn="l">
              <a:spcAft>
                <a:spcPts val="200"/>
              </a:spcAft>
            </a:pPr>
            <a:r>
              <a:rPr lang="en-US" sz="1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GOLDM  •  GOLDTEN  •  GOLDGUINEA  •  GOLDPETAL</a:t>
            </a:r>
          </a:p>
          <a:p>
            <a:pPr algn="l">
              <a:spcAft>
                <a:spcPts val="50"/>
              </a:spcAft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Prices cannot be directly compared due to:</a:t>
            </a:r>
          </a:p>
          <a:p>
            <a:pPr algn="l" marL="285750" indent="-285750">
              <a:spcAft>
                <a:spcPts val="5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Contract size, quotation basis, gold purity</a:t>
            </a:r>
          </a:p>
          <a:p>
            <a:pPr algn="l"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Expiry and liquidity differences</a:t>
            </a:r>
          </a:p>
          <a:p>
            <a:pPr algn="l">
              <a:spcAft>
                <a:spcPts val="200"/>
              </a:spcAft>
            </a:pPr>
            <a:r>
              <a:rPr lang="en-US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</a:t>
            </a:r>
          </a:p>
          <a:p>
            <a:pPr algn="l" marL="285750" indent="-285750">
              <a:spcAft>
                <a:spcPts val="5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Raw prices create misleading comparisons</a:t>
            </a:r>
          </a:p>
          <a:p>
            <a:pPr algn="l">
              <a:spcAft>
                <a:spcPts val="200"/>
              </a:spcAft>
            </a:pP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MCX Data → Normalization → Relative Analysis → Validation → Market Intelligence</a:t>
            </a:r>
          </a:p>
          <a:p>
            <a:pPr algn="l">
              <a:spcAft>
                <a:spcPts val="200"/>
              </a:spcAft>
            </a:pPr>
            <a:r>
              <a:rPr lang="en-US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THEME ALIGNMENT</a:t>
            </a:r>
          </a:p>
          <a:p>
            <a:pPr algn="l">
              <a:spcAft>
                <a:spcPts val="50"/>
              </a:spcAft>
            </a:pP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Quantitative Finance + Data Analytics + Financial Intelligence</a:t>
            </a:r>
          </a:p>
          <a:p>
            <a:pPr algn="l">
              <a:spcAft>
                <a:spcPts val="0"/>
              </a:spcAft>
            </a:pP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Normalized analytics • Relative-value analysis • Statistical signals • Backtested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4457020" y="9832"/>
            <a:ext cx="3277957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SOLUTION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Commodity Derivatives Intelligence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Team Logo">
            <a:extLst>
              <a:ext uri="{FF2B5EF4-FFF2-40B4-BE49-F238E27FC236}">
                <a16:creationId xmlns:a16="http://schemas.microsoft.com/office/drawing/2014/main" id="{EB54E99E-8FFE-44C5-D7A1-F675411BBA6E}"/>
              </a:ext>
            </a:extLst>
          </p:cNvPr>
          <p:cNvSpPr/>
          <p:nvPr/>
        </p:nvSpPr>
        <p:spPr>
          <a:xfrm>
            <a:off x="329773" y="252246"/>
            <a:ext cx="166617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latin typeface="Arial" panose="020B0604020202020204" pitchFamily="34" charset="0"/>
              </a:rPr>
              <a:t>[YOUR TEAM NAME]</a:t>
            </a:r>
            <a:endParaRPr lang="en-IN" dirty="0"/>
          </a:p>
        </p:txBody>
      </p:sp>
      <p:pic>
        <p:nvPicPr>
          <p:cNvPr id="18" name="Content Image">
            <a:extLst>
              <a:ext uri="{FF2B5EF4-FFF2-40B4-BE49-F238E27FC236}">
                <a16:creationId xmlns:a16="http://schemas.microsoft.com/office/drawing/2014/main" id="{B3E538F8-023E-38D2-CC5A-E8B4D5D0F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657600"/>
            <a:ext cx="11338560" cy="2011680"/>
          </a:xfrm>
          <a:prstGeom prst="rect">
            <a:avLst/>
          </a:prstGeom>
        </p:spPr>
      </p:pic>
      <p:sp>
        <p:nvSpPr>
          <p:cNvPr id="20" name="SolutionBox"/>
          <p:cNvSpPr txBox="1"/>
          <p:nvPr/>
        </p:nvSpPr>
        <p:spPr>
          <a:xfrm>
            <a:off x="365760" y="1188720"/>
            <a:ext cx="5303520" cy="23774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>
              <a:spcAft>
                <a:spcPts val="200"/>
              </a:spcAft>
            </a:pPr>
            <a:r>
              <a:rPr lang="en-US" sz="1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 OVERVIEW</a:t>
            </a:r>
          </a:p>
          <a:p>
            <a:pPr algn="l">
              <a:spcAft>
                <a:spcPts val="100"/>
              </a:spcAft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A contract-aware quantitative intelligence platform that transforms MCX gold futures data into:</a:t>
            </a:r>
          </a:p>
          <a:p>
            <a:pPr algn="l" marL="285750" indent="-285750">
              <a:spcAft>
                <a:spcPts val="5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Normalized cross-contract analytics</a:t>
            </a:r>
          </a:p>
          <a:p>
            <a:pPr algn="l" marL="285750" indent="-285750">
              <a:spcAft>
                <a:spcPts val="5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Relative-value signals</a:t>
            </a:r>
          </a:p>
          <a:p>
            <a:pPr algn="l" marL="285750" indent="-285750">
              <a:spcAft>
                <a:spcPts val="5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Validated market insights</a:t>
            </a:r>
          </a:p>
        </p:txBody>
      </p:sp>
      <p:sp>
        <p:nvSpPr>
          <p:cNvPr id="21" name="WorkflowBox"/>
          <p:cNvSpPr txBox="1"/>
          <p:nvPr/>
        </p:nvSpPr>
        <p:spPr>
          <a:xfrm>
            <a:off x="5852160" y="1188720"/>
            <a:ext cx="5303520" cy="23774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>
              <a:spcAft>
                <a:spcPts val="200"/>
              </a:spcAft>
            </a:pPr>
            <a:r>
              <a:rPr lang="en-US" sz="1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 WORKFLOW</a:t>
            </a:r>
          </a:p>
          <a:p>
            <a:pPr algn="l">
              <a:spcAft>
                <a:spcPts val="30"/>
              </a:spcAft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1. Collect MCX data</a:t>
            </a:r>
          </a:p>
          <a:p>
            <a:pPr algn="l">
              <a:spcAft>
                <a:spcPts val="30"/>
              </a:spcAft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2. Validate and clean</a:t>
            </a:r>
          </a:p>
          <a:p>
            <a:pPr algn="l">
              <a:spcAft>
                <a:spcPts val="30"/>
              </a:spcAft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3. Normalize contracts</a:t>
            </a:r>
          </a:p>
          <a:p>
            <a:pPr algn="l">
              <a:spcAft>
                <a:spcPts val="30"/>
              </a:spcAft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4. Compare relative prices</a:t>
            </a:r>
          </a:p>
          <a:p>
            <a:pPr algn="l">
              <a:spcAft>
                <a:spcPts val="30"/>
              </a:spcAft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5. Detect unusual deviations</a:t>
            </a:r>
          </a:p>
          <a:p>
            <a:pPr algn="l">
              <a:spcAft>
                <a:spcPts val="30"/>
              </a:spcAft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6. Backtest historically</a:t>
            </a:r>
          </a:p>
          <a:p>
            <a:pPr algn="l">
              <a:spcAft>
                <a:spcPts val="50"/>
              </a:spcAft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7. Present actionable intelligence</a:t>
            </a:r>
          </a:p>
        </p:txBody>
      </p:sp>
      <p:sp>
        <p:nvSpPr>
          <p:cNvPr id="22" name="UniqueValue"/>
          <p:cNvSpPr/>
          <p:nvPr/>
        </p:nvSpPr>
        <p:spPr>
          <a:xfrm>
            <a:off x="365760" y="3200400"/>
            <a:ext cx="10972800" cy="457200"/>
          </a:xfrm>
          <a:prstGeom prst="roundRect">
            <a:avLst>
              <a:gd name="adj" fmla="val 8000"/>
            </a:avLst>
          </a:prstGeom>
          <a:solidFill>
            <a:srgbClr val="1B2838"/>
          </a:solidFill>
          <a:ln w="12700">
            <a:solidFill>
              <a:srgbClr val="D4A843"/>
            </a:solidFill>
          </a:ln>
        </p:spPr>
        <p:txBody>
          <a:bodyPr wrap="square" rtlCol="0" anchor="t" lIns="91440" tIns="45720" rIns="91440" bIns="45720"/>
          <a:lstStyle/>
          <a:p>
            <a:pPr algn="ctr">
              <a:spcAft>
                <a:spcPts val="0"/>
              </a:spcAft>
            </a:pPr>
            <a:r>
              <a:rPr lang="en-US" sz="900" b="1" dirty="0">
                <a:solidFill>
                  <a:srgbClr val="D4A8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UNIQUE VALUE: </a:t>
            </a: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Tests whether relative-price relationships remain meaningful after costs, liquidity, expiry and historical behavior.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4457020" y="9832"/>
            <a:ext cx="3277957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ARCHITECTURE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Commodity Derivatives Intelligence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Team Logo">
            <a:extLst>
              <a:ext uri="{FF2B5EF4-FFF2-40B4-BE49-F238E27FC236}">
                <a16:creationId xmlns:a16="http://schemas.microsoft.com/office/drawing/2014/main" id="{EB54E99E-8FFE-44C5-D7A1-F675411BBA6E}"/>
              </a:ext>
            </a:extLst>
          </p:cNvPr>
          <p:cNvSpPr/>
          <p:nvPr/>
        </p:nvSpPr>
        <p:spPr>
          <a:xfrm>
            <a:off x="329773" y="252246"/>
            <a:ext cx="166617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latin typeface="Arial" panose="020B0604020202020204" pitchFamily="34" charset="0"/>
              </a:rPr>
              <a:t>[YOUR TEAM NAME]</a:t>
            </a:r>
            <a:endParaRPr lang="en-IN" dirty="0"/>
          </a:p>
        </p:txBody>
      </p:sp>
      <p:sp>
        <p:nvSpPr>
          <p:cNvPr id="20" name="PipelineBox"/>
          <p:cNvSpPr txBox="1"/>
          <p:nvPr/>
        </p:nvSpPr>
        <p:spPr>
          <a:xfrm>
            <a:off x="365760" y="1188720"/>
            <a:ext cx="4389120" cy="4572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>
              <a:spcAft>
                <a:spcPts val="200"/>
              </a:spcAft>
            </a:pPr>
            <a:r>
              <a:rPr lang="en-US" sz="1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PIPELINE</a:t>
            </a:r>
          </a:p>
          <a:p>
            <a:pPr algn="l">
              <a:spcAft>
                <a:spcPts val="30"/>
              </a:spcAft>
            </a:pP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MCX Daily Bhavcopy</a:t>
            </a:r>
          </a:p>
          <a:p>
            <a:pPr algn="l">
              <a:spcAft>
                <a:spcPts val="30"/>
              </a:spcAft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   ↓</a:t>
            </a:r>
          </a:p>
          <a:p>
            <a:pPr algn="l">
              <a:spcAft>
                <a:spcPts val="30"/>
              </a:spcAft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Data Ingestion</a:t>
            </a:r>
          </a:p>
          <a:p>
            <a:pPr algn="l">
              <a:spcAft>
                <a:spcPts val="30"/>
              </a:spcAft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   ↓</a:t>
            </a:r>
          </a:p>
          <a:p>
            <a:pPr algn="l">
              <a:spcAft>
                <a:spcPts val="30"/>
              </a:spcAft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Validation &amp; Cleaning</a:t>
            </a:r>
          </a:p>
          <a:p>
            <a:pPr algn="l">
              <a:spcAft>
                <a:spcPts val="30"/>
              </a:spcAft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   ↓</a:t>
            </a:r>
          </a:p>
          <a:p>
            <a:pPr algn="l">
              <a:spcAft>
                <a:spcPts val="30"/>
              </a:spcAft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Contract Identification</a:t>
            </a:r>
          </a:p>
          <a:p>
            <a:pPr algn="l">
              <a:spcAft>
                <a:spcPts val="30"/>
              </a:spcAft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   ↓</a:t>
            </a:r>
          </a:p>
          <a:p>
            <a:pPr algn="l">
              <a:spcAft>
                <a:spcPts val="30"/>
              </a:spcAft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Price Normalization</a:t>
            </a:r>
          </a:p>
          <a:p>
            <a:pPr algn="l">
              <a:spcAft>
                <a:spcPts val="30"/>
              </a:spcAft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   ↓</a:t>
            </a:r>
          </a:p>
          <a:p>
            <a:pPr algn="l">
              <a:spcAft>
                <a:spcPts val="30"/>
              </a:spcAft>
            </a:pPr>
            <a:r>
              <a:rPr lang="en-US" sz="1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Relative Value Engine</a:t>
            </a:r>
          </a:p>
          <a:p>
            <a:pPr algn="l">
              <a:spcAft>
                <a:spcPts val="30"/>
              </a:spcAft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   ↓</a:t>
            </a:r>
          </a:p>
          <a:p>
            <a:pPr algn="l">
              <a:spcAft>
                <a:spcPts val="30"/>
              </a:spcAft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Walk-Forward Backtesting</a:t>
            </a:r>
          </a:p>
          <a:p>
            <a:pPr algn="l">
              <a:spcAft>
                <a:spcPts val="30"/>
              </a:spcAft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   ↓</a:t>
            </a:r>
          </a:p>
          <a:p>
            <a:pPr algn="l">
              <a:spcAft>
                <a:spcPts val="0"/>
              </a:spcAft>
            </a:pP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Web Dashboard</a:t>
            </a:r>
          </a:p>
        </p:txBody>
      </p:sp>
      <p:sp>
        <p:nvSpPr>
          <p:cNvPr id="21" name="FrontendStack"/>
          <p:cNvSpPr/>
          <p:nvPr/>
        </p:nvSpPr>
        <p:spPr>
          <a:xfrm>
            <a:off x="5120640" y="1188720"/>
            <a:ext cx="2743200" cy="1005840"/>
          </a:xfrm>
          <a:prstGeom prst="roundRect">
            <a:avLst>
              <a:gd name="adj" fmla="val 8000"/>
            </a:avLst>
          </a:prstGeom>
          <a:solidFill>
            <a:srgbClr val="1B3A5C"/>
          </a:solidFill>
          <a:ln w="12700">
            <a:solidFill>
              <a:srgbClr val="D4A843"/>
            </a:solidFill>
          </a:ln>
        </p:spPr>
        <p:txBody>
          <a:bodyPr wrap="square" rtlCol="0" anchor="t" lIns="91440" tIns="45720" rIns="91440" bIns="45720"/>
          <a:lstStyle/>
          <a:p>
            <a:pPr algn="l">
              <a:spcAft>
                <a:spcPts val="50"/>
              </a:spcAft>
            </a:pPr>
            <a:r>
              <a:rPr lang="en-US" sz="1100" b="1" dirty="0">
                <a:solidFill>
                  <a:srgbClr val="D4A8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FRONTEND</a:t>
            </a:r>
          </a:p>
          <a:p>
            <a:pPr algn="l">
              <a:spcAft>
                <a:spcPts val="0"/>
              </a:spcAft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React • TypeScript • Recharts/ECharts</a:t>
            </a:r>
          </a:p>
        </p:txBody>
      </p:sp>
      <p:sp>
        <p:nvSpPr>
          <p:cNvPr id="22" name="BackendStack"/>
          <p:cNvSpPr/>
          <p:nvPr/>
        </p:nvSpPr>
        <p:spPr>
          <a:xfrm>
            <a:off x="5120640" y="2377440"/>
            <a:ext cx="2743200" cy="1005840"/>
          </a:xfrm>
          <a:prstGeom prst="roundRect">
            <a:avLst>
              <a:gd name="adj" fmla="val 8000"/>
            </a:avLst>
          </a:prstGeom>
          <a:solidFill>
            <a:srgbClr val="1B3A5C"/>
          </a:solidFill>
          <a:ln w="12700">
            <a:solidFill>
              <a:srgbClr val="D4A843"/>
            </a:solidFill>
          </a:ln>
        </p:spPr>
        <p:txBody>
          <a:bodyPr wrap="square" rtlCol="0" anchor="t" lIns="91440" tIns="45720" rIns="91440" bIns="45720"/>
          <a:lstStyle/>
          <a:p>
            <a:pPr algn="l">
              <a:spcAft>
                <a:spcPts val="50"/>
              </a:spcAft>
            </a:pPr>
            <a:r>
              <a:rPr lang="en-US" sz="1100" b="1" dirty="0">
                <a:solidFill>
                  <a:srgbClr val="D4A8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</a:p>
          <a:p>
            <a:pPr algn="l">
              <a:spcAft>
                <a:spcPts val="0"/>
              </a:spcAft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 • FastAPI</a:t>
            </a:r>
          </a:p>
        </p:txBody>
      </p:sp>
      <p:sp>
        <p:nvSpPr>
          <p:cNvPr id="23" name="AnalyticsStack"/>
          <p:cNvSpPr/>
          <p:nvPr/>
        </p:nvSpPr>
        <p:spPr>
          <a:xfrm>
            <a:off x="8229600" y="1188720"/>
            <a:ext cx="2743200" cy="1005840"/>
          </a:xfrm>
          <a:prstGeom prst="roundRect">
            <a:avLst>
              <a:gd name="adj" fmla="val 8000"/>
            </a:avLst>
          </a:prstGeom>
          <a:solidFill>
            <a:srgbClr val="1B3A5C"/>
          </a:solidFill>
          <a:ln w="12700">
            <a:solidFill>
              <a:srgbClr val="D4A843"/>
            </a:solidFill>
          </a:ln>
        </p:spPr>
        <p:txBody>
          <a:bodyPr wrap="square" rtlCol="0" anchor="t" lIns="91440" tIns="45720" rIns="91440" bIns="45720"/>
          <a:lstStyle/>
          <a:p>
            <a:pPr algn="l">
              <a:spcAft>
                <a:spcPts val="50"/>
              </a:spcAft>
            </a:pPr>
            <a:r>
              <a:rPr lang="en-US" sz="1100" b="1" dirty="0">
                <a:solidFill>
                  <a:srgbClr val="D4A8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ANALYTICS</a:t>
            </a:r>
          </a:p>
          <a:p>
            <a:pPr algn="l">
              <a:spcAft>
                <a:spcPts val="0"/>
              </a:spcAft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Pandas • NumPy • SciPy</a:t>
            </a:r>
          </a:p>
        </p:txBody>
      </p:sp>
      <p:sp>
        <p:nvSpPr>
          <p:cNvPr id="24" name="StorageStack"/>
          <p:cNvSpPr/>
          <p:nvPr/>
        </p:nvSpPr>
        <p:spPr>
          <a:xfrm>
            <a:off x="8229600" y="2377440"/>
            <a:ext cx="2743200" cy="1005840"/>
          </a:xfrm>
          <a:prstGeom prst="roundRect">
            <a:avLst>
              <a:gd name="adj" fmla="val 8000"/>
            </a:avLst>
          </a:prstGeom>
          <a:solidFill>
            <a:srgbClr val="1B3A5C"/>
          </a:solidFill>
          <a:ln w="12700">
            <a:solidFill>
              <a:srgbClr val="D4A843"/>
            </a:solidFill>
          </a:ln>
        </p:spPr>
        <p:txBody>
          <a:bodyPr wrap="square" rtlCol="0" anchor="t" lIns="91440" tIns="45720" rIns="91440" bIns="45720"/>
          <a:lstStyle/>
          <a:p>
            <a:pPr algn="l">
              <a:spcAft>
                <a:spcPts val="50"/>
              </a:spcAft>
            </a:pPr>
            <a:r>
              <a:rPr lang="en-US" sz="1100" b="1" dirty="0">
                <a:solidFill>
                  <a:srgbClr val="D4A8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STORAGE</a:t>
            </a:r>
          </a:p>
          <a:p>
            <a:pPr algn="l">
              <a:spcAft>
                <a:spcPts val="0"/>
              </a:spcAft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PostgreSQL / SQLite</a:t>
            </a:r>
          </a:p>
        </p:txBody>
      </p:sp>
      <p:sp>
        <p:nvSpPr>
          <p:cNvPr id="25" name="DataRule"/>
          <p:cNvSpPr/>
          <p:nvPr/>
        </p:nvSpPr>
        <p:spPr>
          <a:xfrm>
            <a:off x="5120640" y="3657600"/>
            <a:ext cx="5852160" cy="731520"/>
          </a:xfrm>
          <a:prstGeom prst="roundRect">
            <a:avLst>
              <a:gd name="adj" fmla="val 8000"/>
            </a:avLst>
          </a:prstGeom>
          <a:solidFill>
            <a:srgbClr val="2D1810"/>
          </a:solidFill>
          <a:ln w="12700">
            <a:solidFill>
              <a:srgbClr val="D4A843"/>
            </a:solidFill>
          </a:ln>
        </p:spPr>
        <p:txBody>
          <a:bodyPr wrap="square" rtlCol="0" anchor="t" lIns="91440" tIns="45720" rIns="91440" bIns="45720"/>
          <a:lstStyle/>
          <a:p>
            <a:pPr algn="l">
              <a:spcAft>
                <a:spcPts val="0"/>
              </a:spcAft>
            </a:pPr>
            <a:r>
              <a:rPr lang="en-US" sz="900" b="1" dirty="0">
                <a:solidFill>
                  <a:srgbClr val="D4A8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⚠ IMPORTANT: </a:t>
            </a: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Track contracts by expiry date, not continuous near-month series. Avoids artificial price jumps from rollover.</a:t>
            </a:r>
          </a:p>
        </p:txBody>
      </p:sp>
      <p:sp>
        <p:nvSpPr>
          <p:cNvPr id="26" name="APISource"/>
          <p:cNvSpPr/>
          <p:nvPr/>
        </p:nvSpPr>
        <p:spPr>
          <a:xfrm>
            <a:off x="5120640" y="4572000"/>
            <a:ext cx="5852160" cy="731520"/>
          </a:xfrm>
          <a:prstGeom prst="roundRect">
            <a:avLst>
              <a:gd name="adj" fmla="val 8000"/>
            </a:avLst>
          </a:prstGeom>
          <a:solidFill>
            <a:srgbClr val="1B3A5C"/>
          </a:solidFill>
          <a:ln w="12700">
            <a:solidFill>
              <a:srgbClr val="D4A843"/>
            </a:solidFill>
          </a:ln>
        </p:spPr>
        <p:txBody>
          <a:bodyPr wrap="square" rtlCol="0" anchor="t" lIns="91440" tIns="45720" rIns="91440" bIns="45720"/>
          <a:lstStyle/>
          <a:p>
            <a:pPr algn="l">
              <a:spcAft>
                <a:spcPts val="30"/>
              </a:spcAft>
            </a:pPr>
            <a:r>
              <a:rPr lang="en-US" sz="900" b="1" dirty="0">
                <a:solidFill>
                  <a:srgbClr val="D4A8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SOURCE</a:t>
            </a:r>
          </a:p>
          <a:p>
            <a:pPr algn="l">
              <a:spcAft>
                <a:spcPts val="0"/>
              </a:spcAft>
            </a:pPr>
            <a:r>
              <a:rPr lang="en-US" sz="8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MCX Daily Bhavcopy — Publicly available, no API key required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4457020" y="9832"/>
            <a:ext cx="3277957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MARKET RESEARCH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5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Commodity Derivatives Intelligence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Team Logo">
            <a:extLst>
              <a:ext uri="{FF2B5EF4-FFF2-40B4-BE49-F238E27FC236}">
                <a16:creationId xmlns:a16="http://schemas.microsoft.com/office/drawing/2014/main" id="{EB54E99E-8FFE-44C5-D7A1-F675411BBA6E}"/>
              </a:ext>
            </a:extLst>
          </p:cNvPr>
          <p:cNvSpPr/>
          <p:nvPr/>
        </p:nvSpPr>
        <p:spPr>
          <a:xfrm>
            <a:off x="329773" y="252246"/>
            <a:ext cx="166617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latin typeface="Arial" panose="020B0604020202020204" pitchFamily="34" charset="0"/>
              </a:rPr>
              <a:t>[YOUR TEAM NAME]</a:t>
            </a:r>
            <a:endParaRPr lang="en-IN" dirty="0"/>
          </a:p>
        </p:txBody>
      </p:sp>
      <p:pic>
        <p:nvPicPr>
          <p:cNvPr id="18" name="Content Image">
            <a:extLst>
              <a:ext uri="{FF2B5EF4-FFF2-40B4-BE49-F238E27FC236}">
                <a16:creationId xmlns:a16="http://schemas.microsoft.com/office/drawing/2014/main" id="{B3E538F8-023E-38D2-CC5A-E8B4D5D0F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188720"/>
            <a:ext cx="5486400" cy="4389120"/>
          </a:xfrm>
          <a:prstGeom prst="rect">
            <a:avLst/>
          </a:prstGeom>
        </p:spPr>
      </p:pic>
      <p:sp>
        <p:nvSpPr>
          <p:cNvPr id="20" name="TargetUsers"/>
          <p:cNvSpPr txBox="1"/>
          <p:nvPr/>
        </p:nvSpPr>
        <p:spPr>
          <a:xfrm>
            <a:off x="365760" y="1188720"/>
            <a:ext cx="5303520" cy="1828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>
              <a:spcAft>
                <a:spcPts val="150"/>
              </a:spcAft>
            </a:pPr>
            <a:r>
              <a:rPr lang="en-US" sz="1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TARGET USERS</a:t>
            </a:r>
          </a:p>
          <a:p>
            <a:pPr algn="l">
              <a:spcAft>
                <a:spcPts val="50"/>
              </a:spcAft>
            </a:pP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Primary: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Commodity traders, quantitative analysts, proprietary trading teams</a:t>
            </a:r>
          </a:p>
          <a:p>
            <a:pPr algn="l">
              <a:spcAft>
                <a:spcPts val="50"/>
              </a:spcAft>
            </a:pP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Secondary: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Financial institutions, FinTech companies, market-data platforms</a:t>
            </a:r>
          </a:p>
        </p:txBody>
      </p:sp>
      <p:sp>
        <p:nvSpPr>
          <p:cNvPr id="21" name="MarketOpp"/>
          <p:cNvSpPr txBox="1"/>
          <p:nvPr/>
        </p:nvSpPr>
        <p:spPr>
          <a:xfrm>
            <a:off x="365760" y="2926080"/>
            <a:ext cx="5303520" cy="13716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>
              <a:spcAft>
                <a:spcPts val="150"/>
              </a:spcAft>
            </a:pPr>
            <a:r>
              <a:rPr lang="en-US" sz="1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MARKET OPPORTUNITY</a:t>
            </a:r>
          </a:p>
          <a:p>
            <a:pPr algn="l">
              <a:spcAft>
                <a:spcPts val="50"/>
              </a:spcAft>
            </a:pP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Commodity Markets + Quantitative Analytics + Financial Intelligence</a:t>
            </a:r>
          </a:p>
          <a:p>
            <a:pPr algn="l">
              <a:spcAft>
                <a:spcPts val="50"/>
              </a:spcAft>
            </a:pP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Initial focus: MCX Gold → Silver → Base Metals → Energy → Multi-Commodity</a:t>
            </a:r>
          </a:p>
        </p:txBody>
      </p:sp>
      <p:sp>
        <p:nvSpPr>
          <p:cNvPr id="22" name="RevenueModel"/>
          <p:cNvSpPr txBox="1"/>
          <p:nvPr/>
        </p:nvSpPr>
        <p:spPr>
          <a:xfrm>
            <a:off x="365760" y="4206240"/>
            <a:ext cx="5303520" cy="1463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>
              <a:spcAft>
                <a:spcPts val="150"/>
              </a:spcAft>
            </a:pPr>
            <a:r>
              <a:rPr lang="en-US" sz="1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REVENUE MODEL</a:t>
            </a:r>
          </a:p>
          <a:p>
            <a:pPr algn="l">
              <a:spcAft>
                <a:spcPts val="30"/>
              </a:spcAft>
            </a:pP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Freemium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 — Basic analytics, limited history</a:t>
            </a:r>
          </a:p>
          <a:p>
            <a:pPr algn="l">
              <a:spcAft>
                <a:spcPts val="30"/>
              </a:spcAft>
            </a:pP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Professional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 — Advanced analytics, backtesting, alerts</a:t>
            </a:r>
          </a:p>
          <a:p>
            <a:pPr algn="l">
              <a:spcAft>
                <a:spcPts val="50"/>
              </a:spcAft>
            </a:pP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Institutional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 — APIs, custom analytics, enterprise dashboards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4457020" y="9832"/>
            <a:ext cx="3277957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FUTURE SCOPE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6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Commodity Derivatives Intelligence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Team Logo">
            <a:extLst>
              <a:ext uri="{FF2B5EF4-FFF2-40B4-BE49-F238E27FC236}">
                <a16:creationId xmlns:a16="http://schemas.microsoft.com/office/drawing/2014/main" id="{EB54E99E-8FFE-44C5-D7A1-F675411BBA6E}"/>
              </a:ext>
            </a:extLst>
          </p:cNvPr>
          <p:cNvSpPr/>
          <p:nvPr/>
        </p:nvSpPr>
        <p:spPr>
          <a:xfrm>
            <a:off x="329773" y="252246"/>
            <a:ext cx="166617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latin typeface="Arial" panose="020B0604020202020204" pitchFamily="34" charset="0"/>
              </a:rPr>
              <a:t>[YOUR TEAM NAME]</a:t>
            </a:r>
            <a:endParaRPr lang="en-IN" dirty="0"/>
          </a:p>
        </p:txBody>
      </p:sp>
      <p:sp>
        <p:nvSpPr>
          <p:cNvPr id="20" name="MobileRT"/>
          <p:cNvSpPr/>
          <p:nvPr/>
        </p:nvSpPr>
        <p:spPr>
          <a:xfrm>
            <a:off x="365760" y="1188720"/>
            <a:ext cx="5120640" cy="2011680"/>
          </a:xfrm>
          <a:prstGeom prst="roundRect">
            <a:avLst>
              <a:gd name="adj" fmla="val 8000"/>
            </a:avLst>
          </a:prstGeom>
          <a:solidFill>
            <a:srgbClr val="1B3A5C"/>
          </a:solidFill>
          <a:ln w="12700">
            <a:solidFill>
              <a:srgbClr val="D4A843"/>
            </a:solidFill>
          </a:ln>
        </p:spPr>
        <p:txBody>
          <a:bodyPr wrap="square" rtlCol="0" anchor="t" lIns="91440" tIns="45720" rIns="91440" bIns="45720"/>
          <a:lstStyle/>
          <a:p>
            <a:pPr algn="l">
              <a:spcAft>
                <a:spcPts val="150"/>
              </a:spcAft>
            </a:pPr>
            <a:r>
              <a:rPr lang="en-US" sz="1200" b="1" dirty="0">
                <a:solidFill>
                  <a:srgbClr val="D4A8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MOBILE / REAL-TIME DEPLOYMENT</a:t>
            </a:r>
          </a:p>
          <a:p>
            <a:pPr algn="l" marL="285750" indent="-285750">
              <a:spcAft>
                <a:spcPts val="3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Mobile dashboard</a:t>
            </a:r>
          </a:p>
          <a:p>
            <a:pPr algn="l" marL="285750" indent="-285750">
              <a:spcAft>
                <a:spcPts val="3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Real-time monitoring</a:t>
            </a:r>
          </a:p>
          <a:p>
            <a:pPr algn="l" marL="285750" indent="-285750">
              <a:spcAft>
                <a:spcPts val="3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Push alerts</a:t>
            </a:r>
          </a:p>
          <a:p>
            <a:pPr algn="l"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Mobile-friendly analytics</a:t>
            </a:r>
          </a:p>
        </p:txBody>
      </p:sp>
      <p:sp>
        <p:nvSpPr>
          <p:cNvPr id="21" name="AIML"/>
          <p:cNvSpPr/>
          <p:nvPr/>
        </p:nvSpPr>
        <p:spPr>
          <a:xfrm>
            <a:off x="5852160" y="1188720"/>
            <a:ext cx="5120640" cy="2011680"/>
          </a:xfrm>
          <a:prstGeom prst="roundRect">
            <a:avLst>
              <a:gd name="adj" fmla="val 8000"/>
            </a:avLst>
          </a:prstGeom>
          <a:solidFill>
            <a:srgbClr val="1B3A5C"/>
          </a:solidFill>
          <a:ln w="12700">
            <a:solidFill>
              <a:srgbClr val="D4A843"/>
            </a:solidFill>
          </a:ln>
        </p:spPr>
        <p:txBody>
          <a:bodyPr wrap="square" rtlCol="0" anchor="t" lIns="91440" tIns="45720" rIns="91440" bIns="45720"/>
          <a:lstStyle/>
          <a:p>
            <a:pPr algn="l">
              <a:spcAft>
                <a:spcPts val="150"/>
              </a:spcAft>
            </a:pPr>
            <a:r>
              <a:rPr lang="en-US" sz="1200" b="1" dirty="0">
                <a:solidFill>
                  <a:srgbClr val="D4A8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AI / ML MODEL IMPROVEMENT</a:t>
            </a:r>
          </a:p>
          <a:p>
            <a:pPr algn="l" marL="285750" indent="-285750">
              <a:spcAft>
                <a:spcPts val="3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Regime detection</a:t>
            </a:r>
          </a:p>
          <a:p>
            <a:pPr algn="l" marL="285750" indent="-285750">
              <a:spcAft>
                <a:spcPts val="3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Adaptive thresholds</a:t>
            </a:r>
          </a:p>
          <a:p>
            <a:pPr algn="l" marL="285750" indent="-285750">
              <a:spcAft>
                <a:spcPts val="3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Anomaly detection</a:t>
            </a:r>
          </a:p>
          <a:p>
            <a:pPr algn="l"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Explainable predictive analytics</a:t>
            </a:r>
          </a:p>
        </p:txBody>
      </p:sp>
      <p:sp>
        <p:nvSpPr>
          <p:cNvPr id="22" name="Enterprise"/>
          <p:cNvSpPr/>
          <p:nvPr/>
        </p:nvSpPr>
        <p:spPr>
          <a:xfrm>
            <a:off x="365760" y="3383280"/>
            <a:ext cx="5120640" cy="2194560"/>
          </a:xfrm>
          <a:prstGeom prst="roundRect">
            <a:avLst>
              <a:gd name="adj" fmla="val 8000"/>
            </a:avLst>
          </a:prstGeom>
          <a:solidFill>
            <a:srgbClr val="1B3A5C"/>
          </a:solidFill>
          <a:ln w="12700">
            <a:solidFill>
              <a:srgbClr val="D4A843"/>
            </a:solidFill>
          </a:ln>
        </p:spPr>
        <p:txBody>
          <a:bodyPr wrap="square" rtlCol="0" anchor="t" lIns="91440" tIns="45720" rIns="91440" bIns="45720"/>
          <a:lstStyle/>
          <a:p>
            <a:pPr algn="l">
              <a:spcAft>
                <a:spcPts val="150"/>
              </a:spcAft>
            </a:pPr>
            <a:r>
              <a:rPr lang="en-US" sz="1200" b="1" dirty="0">
                <a:solidFill>
                  <a:srgbClr val="D4A8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ENTERPRISE INTEGRATIONS</a:t>
            </a:r>
          </a:p>
          <a:p>
            <a:pPr algn="l" marL="285750" indent="-285750">
              <a:spcAft>
                <a:spcPts val="3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 APIs</a:t>
            </a:r>
          </a:p>
          <a:p>
            <a:pPr algn="l" marL="285750" indent="-285750">
              <a:spcAft>
                <a:spcPts val="3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Institutional dashboards</a:t>
            </a:r>
          </a:p>
          <a:p>
            <a:pPr algn="l" marL="285750" indent="-285750">
              <a:spcAft>
                <a:spcPts val="3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exports</a:t>
            </a:r>
          </a:p>
          <a:p>
            <a:pPr algn="l"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Broker/platform integrations</a:t>
            </a:r>
          </a:p>
        </p:txBody>
      </p:sp>
      <p:sp>
        <p:nvSpPr>
          <p:cNvPr id="23" name="GlobalScale"/>
          <p:cNvSpPr/>
          <p:nvPr/>
        </p:nvSpPr>
        <p:spPr>
          <a:xfrm>
            <a:off x="5852160" y="3383280"/>
            <a:ext cx="5120640" cy="2194560"/>
          </a:xfrm>
          <a:prstGeom prst="roundRect">
            <a:avLst>
              <a:gd name="adj" fmla="val 8000"/>
            </a:avLst>
          </a:prstGeom>
          <a:solidFill>
            <a:srgbClr val="1B3A5C"/>
          </a:solidFill>
          <a:ln w="12700">
            <a:solidFill>
              <a:srgbClr val="D4A843"/>
            </a:solidFill>
          </a:ln>
        </p:spPr>
        <p:txBody>
          <a:bodyPr wrap="square" rtlCol="0" anchor="t" lIns="91440" tIns="45720" rIns="91440" bIns="45720"/>
          <a:lstStyle/>
          <a:p>
            <a:pPr algn="l">
              <a:spcAft>
                <a:spcPts val="150"/>
              </a:spcAft>
            </a:pPr>
            <a:r>
              <a:rPr lang="en-US" sz="1200" b="1" dirty="0">
                <a:solidFill>
                  <a:srgbClr val="D4A8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SCALING TO GLOBAL USERS</a:t>
            </a:r>
          </a:p>
          <a:p>
            <a:pPr algn="l" marL="285750" indent="-285750">
              <a:spcAft>
                <a:spcPts val="3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Additional commodities</a:t>
            </a:r>
          </a:p>
          <a:p>
            <a:pPr algn="l" marL="285750" indent="-285750">
              <a:spcAft>
                <a:spcPts val="3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Other commodity exchanges</a:t>
            </a:r>
          </a:p>
          <a:p>
            <a:pPr algn="l" marL="285750" indent="-285750">
              <a:spcAft>
                <a:spcPts val="3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International market analytics</a:t>
            </a:r>
          </a:p>
          <a:p>
            <a:pPr algn="l"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Multi-market intelligence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4457020" y="9832"/>
            <a:ext cx="3277957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WHY OUR ANALYSIS IS DEFENSIBLE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7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Commodity Derivatives Intelligence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Team Logo">
            <a:extLst>
              <a:ext uri="{FF2B5EF4-FFF2-40B4-BE49-F238E27FC236}">
                <a16:creationId xmlns:a16="http://schemas.microsoft.com/office/drawing/2014/main" id="{EB54E99E-8FFE-44C5-D7A1-F675411BBA6E}"/>
              </a:ext>
            </a:extLst>
          </p:cNvPr>
          <p:cNvSpPr/>
          <p:nvPr/>
        </p:nvSpPr>
        <p:spPr>
          <a:xfrm>
            <a:off x="329773" y="252246"/>
            <a:ext cx="166617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latin typeface="Arial" panose="020B0604020202020204" pitchFamily="34" charset="0"/>
              </a:rPr>
              <a:t>[YOUR TEAM NAME]</a:t>
            </a:r>
            <a:endParaRPr lang="en-IN" dirty="0"/>
          </a:p>
        </p:txBody>
      </p:sp>
      <p:sp>
        <p:nvSpPr>
          <p:cNvPr id="20" name="DefensibleLeft"/>
          <p:cNvSpPr txBox="1"/>
          <p:nvPr/>
        </p:nvSpPr>
        <p:spPr>
          <a:xfrm>
            <a:off x="365760" y="1188720"/>
            <a:ext cx="5120640" cy="43891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>
              <a:spcAft>
                <a:spcPts val="50"/>
              </a:spcAft>
            </a:pPr>
            <a:r>
              <a:rPr lang="en-US" sz="1200" b="1" dirty="0">
                <a:solidFill>
                  <a:srgbClr val="D4A8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CONTRACT-AWARE</a:t>
            </a:r>
          </a:p>
          <a:p>
            <a:pPr algn="l">
              <a:spcAft>
                <a:spcPts val="200"/>
              </a:spcAft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Track each contract using its actual expiry</a:t>
            </a:r>
          </a:p>
          <a:p>
            <a:pPr algn="l">
              <a:spcAft>
                <a:spcPts val="50"/>
              </a:spcAft>
            </a:pPr>
            <a:r>
              <a:rPr lang="en-US" sz="1200" b="1" dirty="0">
                <a:solidFill>
                  <a:srgbClr val="D4A8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NORMALIZED</a:t>
            </a:r>
          </a:p>
          <a:p>
            <a:pPr algn="l">
              <a:spcAft>
                <a:spcPts val="200"/>
              </a:spcAft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Account for contract size, quotation basis and purity</a:t>
            </a:r>
          </a:p>
          <a:p>
            <a:pPr algn="l">
              <a:spcAft>
                <a:spcPts val="50"/>
              </a:spcAft>
            </a:pPr>
            <a:r>
              <a:rPr lang="en-US" sz="1200" b="1" dirty="0">
                <a:solidFill>
                  <a:srgbClr val="D4A8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LOOK-AHEAD BIAS</a:t>
            </a:r>
          </a:p>
          <a:p>
            <a:pPr algn="l">
              <a:spcAft>
                <a:spcPts val="200"/>
              </a:spcAft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Historical testing uses only info available at that time</a:t>
            </a:r>
          </a:p>
          <a:p>
            <a:pPr algn="l">
              <a:spcAft>
                <a:spcPts val="50"/>
              </a:spcAft>
            </a:pPr>
            <a:r>
              <a:rPr lang="en-US" sz="1200" b="1" dirty="0">
                <a:solidFill>
                  <a:srgbClr val="D4A8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COST-AWARE</a:t>
            </a:r>
          </a:p>
          <a:p>
            <a:pPr algn="l">
              <a:spcAft>
                <a:spcPts val="0"/>
              </a:spcAft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Consider transaction costs and execution limitations</a:t>
            </a:r>
          </a:p>
        </p:txBody>
      </p:sp>
      <p:sp>
        <p:nvSpPr>
          <p:cNvPr id="21" name="DefensibleRight"/>
          <p:cNvSpPr txBox="1"/>
          <p:nvPr/>
        </p:nvSpPr>
        <p:spPr>
          <a:xfrm>
            <a:off x="5852160" y="1188720"/>
            <a:ext cx="5120640" cy="43891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>
              <a:spcAft>
                <a:spcPts val="50"/>
              </a:spcAft>
            </a:pPr>
            <a:r>
              <a:rPr lang="en-US" sz="1200" b="1" dirty="0">
                <a:solidFill>
                  <a:srgbClr val="D4A8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LIQUIDITY-AWARE</a:t>
            </a:r>
          </a:p>
          <a:p>
            <a:pPr algn="l">
              <a:spcAft>
                <a:spcPts val="200"/>
              </a:spcAft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Volume is not automatically treated as market depth</a:t>
            </a:r>
          </a:p>
          <a:p>
            <a:pPr algn="l">
              <a:spcAft>
                <a:spcPts val="50"/>
              </a:spcAft>
            </a:pPr>
            <a:r>
              <a:rPr lang="en-US" sz="1200" b="1" dirty="0">
                <a:solidFill>
                  <a:srgbClr val="D4A8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SIGNAL DISCIPLINE</a:t>
            </a:r>
          </a:p>
          <a:p>
            <a:pPr algn="l">
              <a:spcAft>
                <a:spcPts val="200"/>
              </a:spcAft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Deviations are not automatically trading opportunities</a:t>
            </a:r>
          </a:p>
          <a:p>
            <a:pPr algn="l">
              <a:spcAft>
                <a:spcPts val="50"/>
              </a:spcAft>
            </a:pPr>
            <a:r>
              <a:rPr lang="en-US" sz="1200" b="1" dirty="0">
                <a:solidFill>
                  <a:srgbClr val="D4A8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VALIDATION FIRST</a:t>
            </a:r>
          </a:p>
          <a:p>
            <a:pPr algn="l">
              <a:spcAft>
                <a:spcPts val="200"/>
              </a:spcAft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Use unseen data and walk-forward testing</a:t>
            </a:r>
          </a:p>
          <a:p>
            <a:pPr algn="l">
              <a:spcAft>
                <a:spcPts val="50"/>
              </a:spcAft>
            </a:pPr>
            <a:r>
              <a:rPr lang="en-US" sz="1200" b="1" dirty="0">
                <a:solidFill>
                  <a:srgbClr val="D4A8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NEGATIVE RESULTS ARE VALID</a:t>
            </a:r>
          </a:p>
          <a:p>
            <a:pPr algn="l">
              <a:spcAft>
                <a:spcPts val="0"/>
              </a:spcAft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If an edge disappears after costs, report that result</a:t>
            </a:r>
          </a:p>
        </p:txBody>
      </p:sp>
      <p:sp>
        <p:nvSpPr>
          <p:cNvPr id="22" name="PipelineViz"/>
          <p:cNvSpPr/>
          <p:nvPr/>
        </p:nvSpPr>
        <p:spPr>
          <a:xfrm>
            <a:off x="365760" y="5303520"/>
            <a:ext cx="10607040" cy="365760"/>
          </a:xfrm>
          <a:prstGeom prst="roundRect">
            <a:avLst>
              <a:gd name="adj" fmla="val 8000"/>
            </a:avLst>
          </a:prstGeom>
          <a:solidFill>
            <a:srgbClr val="1B2838"/>
          </a:solidFill>
          <a:ln w="12700">
            <a:solidFill>
              <a:srgbClr val="D4A843"/>
            </a:solidFill>
          </a:ln>
        </p:spPr>
        <p:txBody>
          <a:bodyPr wrap="square" rtlCol="0" anchor="t" lIns="91440" tIns="45720" rIns="91440" bIns="45720"/>
          <a:lstStyle/>
          <a:p>
            <a:pPr algn="ctr">
              <a:spcAft>
                <a:spcPts val="0"/>
              </a:spcAft>
            </a:pPr>
            <a:r>
              <a:rPr lang="en-US" sz="800" b="1" dirty="0">
                <a:solidFill>
                  <a:srgbClr val="D4A8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Normalized Price</a:t>
            </a:r>
            <a:r>
              <a:rPr lang="en-US" sz="8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→  </a:t>
            </a:r>
            <a:r>
              <a:rPr lang="en-US" sz="800" b="1" dirty="0">
                <a:solidFill>
                  <a:srgbClr val="D4A8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Spread</a:t>
            </a:r>
            <a:r>
              <a:rPr lang="en-US" sz="8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→  </a:t>
            </a:r>
            <a:r>
              <a:rPr lang="en-US" sz="800" b="1" dirty="0">
                <a:solidFill>
                  <a:srgbClr val="D4A8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Statistical Deviation</a:t>
            </a:r>
            <a:r>
              <a:rPr lang="en-US" sz="8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→  </a:t>
            </a:r>
            <a:r>
              <a:rPr lang="en-US" sz="800" b="1" dirty="0">
                <a:solidFill>
                  <a:srgbClr val="D4A8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Backtest</a:t>
            </a:r>
            <a:r>
              <a:rPr lang="en-US" sz="8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→  </a:t>
            </a:r>
            <a:r>
              <a:rPr lang="en-US" sz="800" b="1" dirty="0">
                <a:solidFill>
                  <a:srgbClr val="D4A8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8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Commodity Derivatives Intelligence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Team Logo">
            <a:extLst>
              <a:ext uri="{FF2B5EF4-FFF2-40B4-BE49-F238E27FC236}">
                <a16:creationId xmlns:a16="http://schemas.microsoft.com/office/drawing/2014/main" id="{EB54E99E-8FFE-44C5-D7A1-F675411BBA6E}"/>
              </a:ext>
            </a:extLst>
          </p:cNvPr>
          <p:cNvSpPr/>
          <p:nvPr/>
        </p:nvSpPr>
        <p:spPr>
          <a:xfrm>
            <a:off x="329773" y="252246"/>
            <a:ext cx="166617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latin typeface="Arial" panose="020B0604020202020204" pitchFamily="34" charset="0"/>
              </a:rPr>
              <a:t>[YOUR TEAM NAME]</a:t>
            </a:r>
            <a:endParaRPr lang="en-IN" dirty="0"/>
          </a:p>
        </p:txBody>
      </p:sp>
      <p:sp>
        <p:nvSpPr>
          <p:cNvPr id="20" name="ThankYouTitle"/>
          <p:cNvSpPr txBox="1"/>
          <p:nvPr/>
        </p:nvSpPr>
        <p:spPr>
          <a:xfrm>
            <a:off x="914400" y="1371600"/>
            <a:ext cx="9601200" cy="1828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>
              <a:spcAft>
                <a:spcPts val="200"/>
              </a:spcAft>
            </a:pPr>
            <a:r>
              <a:rPr lang="en-US" sz="4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  <p:sp>
        <p:nvSpPr>
          <p:cNvPr id="21" name="ThankYouSub"/>
          <p:cNvSpPr txBox="1"/>
          <p:nvPr/>
        </p:nvSpPr>
        <p:spPr>
          <a:xfrm>
            <a:off x="914400" y="2926080"/>
            <a:ext cx="960120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>
              <a:spcAft>
                <a:spcPts val="200"/>
              </a:spcAft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COMMODITY DERIVATIVES INTELLIGENCE</a:t>
            </a:r>
          </a:p>
          <a:p>
            <a:pPr algn="ctr">
              <a:spcAft>
                <a:spcPts val="0"/>
              </a:spcAft>
            </a:pP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From Exchange Data to Defensible Market Intelligence</a:t>
            </a:r>
          </a:p>
        </p:txBody>
      </p:sp>
      <p:sp>
        <p:nvSpPr>
          <p:cNvPr id="22" name="ContactInfo"/>
          <p:cNvSpPr txBox="1"/>
          <p:nvPr/>
        </p:nvSpPr>
        <p:spPr>
          <a:xfrm>
            <a:off x="2286000" y="4114800"/>
            <a:ext cx="6858000" cy="13716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>
              <a:spcAft>
                <a:spcPts val="150"/>
              </a:spcAft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Team: [YOUR TEAM NAME]</a:t>
            </a:r>
          </a:p>
          <a:p>
            <a:pPr algn="ctr">
              <a:spcAft>
                <a:spcPts val="0"/>
              </a:spcAft>
            </a:pPr>
            <a:r>
              <a:rPr lang="en-US" sz="11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[DEMO URL]  •  [EMAIL]  •  [GITHUB]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7944</TotalTime>
  <Words>106</Words>
  <Application>Microsoft Office PowerPoint</Application>
  <PresentationFormat>Widescreen</PresentationFormat>
  <Paragraphs>35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ADLaM Display</vt:lpstr>
      <vt:lpstr>Arial</vt:lpstr>
      <vt:lpstr>Bahnschrift Light SemiCondensed</vt:lpstr>
      <vt:lpstr>Calibri</vt:lpstr>
      <vt:lpstr>Garamond</vt:lpstr>
      <vt:lpstr>Times New Roman</vt:lpstr>
      <vt:lpstr>TradeGothic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Sai Ganesh</cp:lastModifiedBy>
  <cp:revision>154</cp:revision>
  <dcterms:created xsi:type="dcterms:W3CDTF">2013-12-12T18:46:50Z</dcterms:created>
  <dcterms:modified xsi:type="dcterms:W3CDTF">2026-09-05T10:11:22Z</dcterms:modified>
  <cp:category/>
</cp:coreProperties>
</file>